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7" r:id="rId2"/>
  </p:sldIdLst>
  <p:sldSz cx="32918400" cy="21945600"/>
  <p:notesSz cx="6858000" cy="9144000"/>
  <p:embeddedFontLst>
    <p:embeddedFont>
      <p:font typeface="Lato" panose="020F0502020204030203" pitchFamily="34" charset="0"/>
      <p:regular r:id="rId4"/>
      <p:bold r:id="rId5"/>
      <p:italic r:id="rId6"/>
      <p:boldItalic r:id="rId7"/>
    </p:embeddedFont>
    <p:embeddedFont>
      <p:font typeface="Lato Black" panose="020F0502020204030203" pitchFamily="34" charset="0"/>
      <p:bold r:id="rId8"/>
      <p:italic r:id="rId9"/>
      <p:boldItalic r:id="rId1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10384" userDrawn="1">
          <p15:clr>
            <a:srgbClr val="A4A3A4"/>
          </p15:clr>
        </p15:guide>
        <p15:guide id="2" pos="4016" userDrawn="1">
          <p15:clr>
            <a:srgbClr val="A4A3A4"/>
          </p15:clr>
        </p15:guide>
        <p15:guide id="3" pos="176" userDrawn="1">
          <p15:clr>
            <a:srgbClr val="A4A3A4"/>
          </p15:clr>
        </p15:guide>
        <p15:guide id="4" pos="496" userDrawn="1">
          <p15:clr>
            <a:srgbClr val="A4A3A4"/>
          </p15:clr>
        </p15:guide>
        <p15:guide id="5" orient="horz" pos="6912" userDrawn="1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0" roundtripDataSignature="AMtx7mhgGwtAEGhsZnifSjkFUgMWI3/Il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A8347"/>
    <a:srgbClr val="2F2F2F"/>
    <a:srgbClr val="003876"/>
    <a:srgbClr val="003675"/>
    <a:srgbClr val="272B7E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92"/>
    <p:restoredTop sz="94687"/>
  </p:normalViewPr>
  <p:slideViewPr>
    <p:cSldViewPr snapToGrid="0">
      <p:cViewPr>
        <p:scale>
          <a:sx n="30" d="100"/>
          <a:sy n="30" d="100"/>
        </p:scale>
        <p:origin x="1872" y="584"/>
      </p:cViewPr>
      <p:guideLst>
        <p:guide pos="10384"/>
        <p:guide pos="4016"/>
        <p:guide pos="176"/>
        <p:guide pos="496"/>
        <p:guide orient="horz" pos="69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3" Type="http://schemas.openxmlformats.org/officeDocument/2006/relationships/notesMaster" Target="notesMasters/notesMaster1.xml"/><Relationship Id="rId42" Type="http://schemas.openxmlformats.org/officeDocument/2006/relationships/viewProps" Target="viewProps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40" Type="http://customschemas.google.com/relationships/presentationmetadata" Target="metadata"/><Relationship Id="rId5" Type="http://schemas.openxmlformats.org/officeDocument/2006/relationships/font" Target="fonts/font2.fntdata"/><Relationship Id="rId10" Type="http://schemas.openxmlformats.org/officeDocument/2006/relationships/font" Target="fonts/font7.fntdata"/><Relationship Id="rId44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14425" y="1143000"/>
            <a:ext cx="462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933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14425" y="1143000"/>
            <a:ext cx="462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6" name="Google Shape;16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 dirty="0"/>
          </a:p>
        </p:txBody>
      </p:sp>
      <p:sp>
        <p:nvSpPr>
          <p:cNvPr id="167" name="Google Shape;167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>
            <a:spLocks noGrp="1"/>
          </p:cNvSpPr>
          <p:nvPr>
            <p:ph type="ctrTitle"/>
          </p:nvPr>
        </p:nvSpPr>
        <p:spPr>
          <a:xfrm>
            <a:off x="2468880" y="3591561"/>
            <a:ext cx="27980640" cy="764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800"/>
              <a:buFont typeface="Calibri"/>
              <a:buNone/>
              <a:defRPr sz="1920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5"/>
          <p:cNvSpPr txBox="1">
            <a:spLocks noGrp="1"/>
          </p:cNvSpPr>
          <p:nvPr>
            <p:ph type="subTitle" idx="1"/>
          </p:nvPr>
        </p:nvSpPr>
        <p:spPr>
          <a:xfrm>
            <a:off x="4114800" y="11526522"/>
            <a:ext cx="24688800" cy="5298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7680"/>
            </a:lvl1pPr>
            <a:lvl2pPr lvl="1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6400"/>
            </a:lvl2pPr>
            <a:lvl3pPr lvl="2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5760"/>
            </a:lvl3pPr>
            <a:lvl4pPr lvl="3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4pPr>
            <a:lvl5pPr lvl="4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5pPr>
            <a:lvl6pPr lvl="5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6pPr>
            <a:lvl7pPr lvl="6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7pPr>
            <a:lvl8pPr lvl="7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8pPr>
            <a:lvl9pPr lvl="8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9pPr>
          </a:lstStyle>
          <a:p>
            <a:endParaRPr/>
          </a:p>
        </p:txBody>
      </p:sp>
      <p:sp>
        <p:nvSpPr>
          <p:cNvPr id="24" name="Google Shape;24;p25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5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5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9"/>
          <p:cNvSpPr txBox="1">
            <a:spLocks noGrp="1"/>
          </p:cNvSpPr>
          <p:nvPr>
            <p:ph type="title"/>
          </p:nvPr>
        </p:nvSpPr>
        <p:spPr>
          <a:xfrm>
            <a:off x="2245997" y="5471167"/>
            <a:ext cx="28392120" cy="91287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800"/>
              <a:buFont typeface="Calibri"/>
              <a:buNone/>
              <a:defRPr sz="1920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9"/>
          <p:cNvSpPr txBox="1">
            <a:spLocks noGrp="1"/>
          </p:cNvSpPr>
          <p:nvPr>
            <p:ph type="body" idx="1"/>
          </p:nvPr>
        </p:nvSpPr>
        <p:spPr>
          <a:xfrm>
            <a:off x="2245997" y="14686287"/>
            <a:ext cx="28392120" cy="480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31" lvl="0" indent="-152416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7680">
                <a:solidFill>
                  <a:schemeClr val="dk1"/>
                </a:solidFill>
              </a:defRPr>
            </a:lvl1pPr>
            <a:lvl2pPr marL="609660" lvl="1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9600"/>
              <a:buNone/>
              <a:defRPr sz="6400">
                <a:solidFill>
                  <a:srgbClr val="888888"/>
                </a:solidFill>
              </a:defRPr>
            </a:lvl2pPr>
            <a:lvl3pPr marL="914492" lvl="2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8640"/>
              <a:buNone/>
              <a:defRPr sz="5760">
                <a:solidFill>
                  <a:srgbClr val="888888"/>
                </a:solidFill>
              </a:defRPr>
            </a:lvl3pPr>
            <a:lvl4pPr marL="1219322" lvl="3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4pPr>
            <a:lvl5pPr marL="1524152" lvl="4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5pPr>
            <a:lvl6pPr marL="1828983" lvl="5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6pPr>
            <a:lvl7pPr marL="2133814" lvl="6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7pPr>
            <a:lvl8pPr marL="2438644" lvl="7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8pPr>
            <a:lvl9pPr marL="2743475" lvl="8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9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9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9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0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0"/>
          <p:cNvSpPr txBox="1">
            <a:spLocks noGrp="1"/>
          </p:cNvSpPr>
          <p:nvPr>
            <p:ph type="body" idx="1"/>
          </p:nvPr>
        </p:nvSpPr>
        <p:spPr>
          <a:xfrm>
            <a:off x="2263140" y="5842001"/>
            <a:ext cx="13990320" cy="13924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31" lvl="0" indent="-228623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60" lvl="1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92" lvl="2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322" lvl="3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152" lvl="4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983" lvl="5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814" lvl="6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644" lvl="7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475" lvl="8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30"/>
          <p:cNvSpPr txBox="1">
            <a:spLocks noGrp="1"/>
          </p:cNvSpPr>
          <p:nvPr>
            <p:ph type="body" idx="2"/>
          </p:nvPr>
        </p:nvSpPr>
        <p:spPr>
          <a:xfrm>
            <a:off x="16664940" y="5842001"/>
            <a:ext cx="13990320" cy="13924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31" lvl="0" indent="-228623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60" lvl="1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92" lvl="2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322" lvl="3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152" lvl="4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983" lvl="5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814" lvl="6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644" lvl="7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475" lvl="8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30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0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0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1"/>
          <p:cNvSpPr txBox="1">
            <a:spLocks noGrp="1"/>
          </p:cNvSpPr>
          <p:nvPr>
            <p:ph type="title"/>
          </p:nvPr>
        </p:nvSpPr>
        <p:spPr>
          <a:xfrm>
            <a:off x="2267427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1"/>
          <p:cNvSpPr txBox="1">
            <a:spLocks noGrp="1"/>
          </p:cNvSpPr>
          <p:nvPr>
            <p:ph type="body" idx="1"/>
          </p:nvPr>
        </p:nvSpPr>
        <p:spPr>
          <a:xfrm>
            <a:off x="2267431" y="5379722"/>
            <a:ext cx="13926024" cy="2636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831" lvl="0" indent="-152416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7680" b="1"/>
            </a:lvl1pPr>
            <a:lvl2pPr marL="609660" lvl="1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6400" b="1"/>
            </a:lvl2pPr>
            <a:lvl3pPr marL="914492" lvl="2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5760" b="1"/>
            </a:lvl3pPr>
            <a:lvl4pPr marL="1219322" lvl="3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4pPr>
            <a:lvl5pPr marL="1524152" lvl="4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5pPr>
            <a:lvl6pPr marL="1828983" lvl="5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6pPr>
            <a:lvl7pPr marL="2133814" lvl="6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7pPr>
            <a:lvl8pPr marL="2438644" lvl="7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8pPr>
            <a:lvl9pPr marL="2743475" lvl="8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9pPr>
          </a:lstStyle>
          <a:p>
            <a:endParaRPr/>
          </a:p>
        </p:txBody>
      </p:sp>
      <p:sp>
        <p:nvSpPr>
          <p:cNvPr id="43" name="Google Shape;43;p31"/>
          <p:cNvSpPr txBox="1">
            <a:spLocks noGrp="1"/>
          </p:cNvSpPr>
          <p:nvPr>
            <p:ph type="body" idx="2"/>
          </p:nvPr>
        </p:nvSpPr>
        <p:spPr>
          <a:xfrm>
            <a:off x="2267431" y="8016241"/>
            <a:ext cx="13926024" cy="11790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31" lvl="0" indent="-228623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60" lvl="1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92" lvl="2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322" lvl="3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152" lvl="4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983" lvl="5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814" lvl="6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644" lvl="7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475" lvl="8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31"/>
          <p:cNvSpPr txBox="1">
            <a:spLocks noGrp="1"/>
          </p:cNvSpPr>
          <p:nvPr>
            <p:ph type="body" idx="3"/>
          </p:nvPr>
        </p:nvSpPr>
        <p:spPr>
          <a:xfrm>
            <a:off x="16664943" y="5379722"/>
            <a:ext cx="13994607" cy="2636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831" lvl="0" indent="-152416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7680" b="1"/>
            </a:lvl1pPr>
            <a:lvl2pPr marL="609660" lvl="1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6400" b="1"/>
            </a:lvl2pPr>
            <a:lvl3pPr marL="914492" lvl="2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5760" b="1"/>
            </a:lvl3pPr>
            <a:lvl4pPr marL="1219322" lvl="3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4pPr>
            <a:lvl5pPr marL="1524152" lvl="4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5pPr>
            <a:lvl6pPr marL="1828983" lvl="5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6pPr>
            <a:lvl7pPr marL="2133814" lvl="6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7pPr>
            <a:lvl8pPr marL="2438644" lvl="7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8pPr>
            <a:lvl9pPr marL="2743475" lvl="8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9pPr>
          </a:lstStyle>
          <a:p>
            <a:endParaRPr/>
          </a:p>
        </p:txBody>
      </p:sp>
      <p:sp>
        <p:nvSpPr>
          <p:cNvPr id="45" name="Google Shape;45;p31"/>
          <p:cNvSpPr txBox="1">
            <a:spLocks noGrp="1"/>
          </p:cNvSpPr>
          <p:nvPr>
            <p:ph type="body" idx="4"/>
          </p:nvPr>
        </p:nvSpPr>
        <p:spPr>
          <a:xfrm>
            <a:off x="16664943" y="8016241"/>
            <a:ext cx="13994607" cy="11790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31" lvl="0" indent="-228623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60" lvl="1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92" lvl="2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322" lvl="3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152" lvl="4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983" lvl="5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814" lvl="6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644" lvl="7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475" lvl="8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31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1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1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2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2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2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2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3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3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3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4"/>
          <p:cNvSpPr txBox="1"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60"/>
              <a:buFont typeface="Calibri"/>
              <a:buNone/>
              <a:defRPr sz="1024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4"/>
          <p:cNvSpPr txBox="1">
            <a:spLocks noGrp="1"/>
          </p:cNvSpPr>
          <p:nvPr>
            <p:ph type="body" idx="1"/>
          </p:nvPr>
        </p:nvSpPr>
        <p:spPr>
          <a:xfrm>
            <a:off x="13994607" y="3159765"/>
            <a:ext cx="16664940" cy="155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31" lvl="0" indent="-802720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5360"/>
              <a:buChar char="•"/>
              <a:defRPr sz="10242"/>
            </a:lvl1pPr>
            <a:lvl2pPr marL="609660" lvl="1" indent="-721432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440"/>
              <a:buChar char="•"/>
              <a:defRPr sz="8960"/>
            </a:lvl2pPr>
            <a:lvl3pPr marL="914492" lvl="2" indent="-640144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520"/>
              <a:buChar char="•"/>
              <a:defRPr sz="7680"/>
            </a:lvl3pPr>
            <a:lvl4pPr marL="1219322" lvl="3" indent="-55885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4pPr>
            <a:lvl5pPr marL="1524152" lvl="4" indent="-55885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5pPr>
            <a:lvl6pPr marL="1828983" lvl="5" indent="-55885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6pPr>
            <a:lvl7pPr marL="2133814" lvl="6" indent="-55885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7pPr>
            <a:lvl8pPr marL="2438644" lvl="7" indent="-55885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8pPr>
            <a:lvl9pPr marL="2743475" lvl="8" indent="-55885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9pPr>
          </a:lstStyle>
          <a:p>
            <a:endParaRPr/>
          </a:p>
        </p:txBody>
      </p:sp>
      <p:sp>
        <p:nvSpPr>
          <p:cNvPr id="61" name="Google Shape;61;p34"/>
          <p:cNvSpPr txBox="1">
            <a:spLocks noGrp="1"/>
          </p:cNvSpPr>
          <p:nvPr>
            <p:ph type="body" idx="2"/>
          </p:nvPr>
        </p:nvSpPr>
        <p:spPr>
          <a:xfrm>
            <a:off x="2267428" y="6583681"/>
            <a:ext cx="10617041" cy="1219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31" lvl="0" indent="-152416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1pPr>
            <a:lvl2pPr marL="609660" lvl="1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720"/>
              <a:buNone/>
              <a:defRPr sz="4480"/>
            </a:lvl2pPr>
            <a:lvl3pPr marL="914492" lvl="2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3840"/>
            </a:lvl3pPr>
            <a:lvl4pPr marL="1219322" lvl="3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4pPr>
            <a:lvl5pPr marL="1524152" lvl="4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5pPr>
            <a:lvl6pPr marL="1828983" lvl="5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6pPr>
            <a:lvl7pPr marL="2133814" lvl="6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7pPr>
            <a:lvl8pPr marL="2438644" lvl="7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8pPr>
            <a:lvl9pPr marL="2743475" lvl="8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9pPr>
          </a:lstStyle>
          <a:p>
            <a:endParaRPr/>
          </a:p>
        </p:txBody>
      </p:sp>
      <p:sp>
        <p:nvSpPr>
          <p:cNvPr id="62" name="Google Shape;62;p34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4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4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5"/>
          <p:cNvSpPr txBox="1"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60"/>
              <a:buFont typeface="Calibri"/>
              <a:buNone/>
              <a:defRPr sz="1024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5"/>
          <p:cNvSpPr>
            <a:spLocks noGrp="1"/>
          </p:cNvSpPr>
          <p:nvPr>
            <p:ph type="pic" idx="2"/>
          </p:nvPr>
        </p:nvSpPr>
        <p:spPr>
          <a:xfrm>
            <a:off x="13994607" y="3159765"/>
            <a:ext cx="16664940" cy="15595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Google Shape;68;p35"/>
          <p:cNvSpPr txBox="1">
            <a:spLocks noGrp="1"/>
          </p:cNvSpPr>
          <p:nvPr>
            <p:ph type="body" idx="1"/>
          </p:nvPr>
        </p:nvSpPr>
        <p:spPr>
          <a:xfrm>
            <a:off x="2267428" y="6583681"/>
            <a:ext cx="10617041" cy="1219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31" lvl="0" indent="-152416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1pPr>
            <a:lvl2pPr marL="609660" lvl="1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720"/>
              <a:buNone/>
              <a:defRPr sz="4480"/>
            </a:lvl2pPr>
            <a:lvl3pPr marL="914492" lvl="2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3840"/>
            </a:lvl3pPr>
            <a:lvl4pPr marL="1219322" lvl="3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4pPr>
            <a:lvl5pPr marL="1524152" lvl="4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5pPr>
            <a:lvl6pPr marL="1828983" lvl="5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6pPr>
            <a:lvl7pPr marL="2133814" lvl="6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7pPr>
            <a:lvl8pPr marL="2438644" lvl="7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8pPr>
            <a:lvl9pPr marL="2743475" lvl="8" indent="-15241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9pPr>
          </a:lstStyle>
          <a:p>
            <a:endParaRPr/>
          </a:p>
        </p:txBody>
      </p:sp>
      <p:sp>
        <p:nvSpPr>
          <p:cNvPr id="69" name="Google Shape;69;p35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5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5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6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6"/>
          <p:cNvSpPr txBox="1">
            <a:spLocks noGrp="1"/>
          </p:cNvSpPr>
          <p:nvPr>
            <p:ph type="body" idx="1"/>
          </p:nvPr>
        </p:nvSpPr>
        <p:spPr>
          <a:xfrm rot="5400000">
            <a:off x="9497061" y="-1391919"/>
            <a:ext cx="13924281" cy="28392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31" lvl="0" indent="-228623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60" lvl="1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92" lvl="2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322" lvl="3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152" lvl="4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983" lvl="5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814" lvl="6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644" lvl="7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475" lvl="8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6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6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6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7"/>
          <p:cNvSpPr txBox="1">
            <a:spLocks noGrp="1"/>
          </p:cNvSpPr>
          <p:nvPr>
            <p:ph type="title"/>
          </p:nvPr>
        </p:nvSpPr>
        <p:spPr>
          <a:xfrm rot="5400000">
            <a:off x="17807308" y="6918326"/>
            <a:ext cx="18597881" cy="7098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7"/>
          <p:cNvSpPr txBox="1">
            <a:spLocks noGrp="1"/>
          </p:cNvSpPr>
          <p:nvPr>
            <p:ph type="body" idx="1"/>
          </p:nvPr>
        </p:nvSpPr>
        <p:spPr>
          <a:xfrm rot="5400000">
            <a:off x="3405508" y="26036"/>
            <a:ext cx="18597881" cy="20882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31" lvl="0" indent="-228623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60" lvl="1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92" lvl="2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322" lvl="3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152" lvl="4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983" lvl="5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814" lvl="6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644" lvl="7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475" lvl="8" indent="-2286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7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7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7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3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120"/>
              <a:buFont typeface="Calibri"/>
              <a:buNone/>
              <a:defRPr sz="211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3"/>
          <p:cNvSpPr txBox="1">
            <a:spLocks noGrp="1"/>
          </p:cNvSpPr>
          <p:nvPr>
            <p:ph type="body" idx="1"/>
          </p:nvPr>
        </p:nvSpPr>
        <p:spPr>
          <a:xfrm>
            <a:off x="2263140" y="5842001"/>
            <a:ext cx="28392120" cy="13924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1082040" algn="l" rtl="0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3440"/>
              <a:buFont typeface="Arial"/>
              <a:buChar char="•"/>
              <a:defRPr sz="134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6012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1520"/>
              <a:buFont typeface="Arial"/>
              <a:buChar char="•"/>
              <a:defRPr sz="115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3820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ial"/>
              <a:buChar char="•"/>
              <a:defRPr sz="9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7724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3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3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3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g"/><Relationship Id="rId13" Type="http://schemas.openxmlformats.org/officeDocument/2006/relationships/image" Target="../media/image8.png"/><Relationship Id="rId18" Type="http://schemas.openxmlformats.org/officeDocument/2006/relationships/image" Target="../media/image13.svg"/><Relationship Id="rId3" Type="http://schemas.openxmlformats.org/officeDocument/2006/relationships/hyperlink" Target="https://doi.org/10.48550/arXiv.2411.11029" TargetMode="External"/><Relationship Id="rId7" Type="http://schemas.openxmlformats.org/officeDocument/2006/relationships/image" Target="../media/image2.png"/><Relationship Id="rId12" Type="http://schemas.openxmlformats.org/officeDocument/2006/relationships/image" Target="../media/image7.png"/><Relationship Id="rId17" Type="http://schemas.openxmlformats.org/officeDocument/2006/relationships/image" Target="../media/image12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1.svg"/><Relationship Id="rId20" Type="http://schemas.openxmlformats.org/officeDocument/2006/relationships/image" Target="../media/image1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11" Type="http://schemas.openxmlformats.org/officeDocument/2006/relationships/image" Target="../media/image6.png"/><Relationship Id="rId5" Type="http://schemas.openxmlformats.org/officeDocument/2006/relationships/hyperlink" Target="https://doi.org/10.1109/TSM.2014.2364237" TargetMode="External"/><Relationship Id="rId15" Type="http://schemas.openxmlformats.org/officeDocument/2006/relationships/image" Target="../media/image10.svg"/><Relationship Id="rId10" Type="http://schemas.openxmlformats.org/officeDocument/2006/relationships/image" Target="../media/image5.svg"/><Relationship Id="rId19" Type="http://schemas.openxmlformats.org/officeDocument/2006/relationships/image" Target="../media/image14.svg"/><Relationship Id="rId4" Type="http://schemas.openxmlformats.org/officeDocument/2006/relationships/hyperlink" Target="https://doi.org/10.48550/arXiv.2606.03748" TargetMode="External"/><Relationship Id="rId9" Type="http://schemas.openxmlformats.org/officeDocument/2006/relationships/image" Target="../media/image4.svg"/><Relationship Id="rId1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876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"/>
          <p:cNvSpPr/>
          <p:nvPr/>
        </p:nvSpPr>
        <p:spPr>
          <a:xfrm>
            <a:off x="24835001" y="0"/>
            <a:ext cx="8409214" cy="21945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0950" tIns="30467" rIns="60950" bIns="30467" anchor="ctr" anchorCtr="0">
            <a:noAutofit/>
          </a:bodyPr>
          <a:lstStyle/>
          <a:p>
            <a:r>
              <a:rPr lang="en-US" sz="1200" b="1" i="1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Non-Cognitive Predictors of Student Success:</a:t>
            </a:r>
            <a:br>
              <a:rPr lang="en-US" sz="1200" i="1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lang="en-US" sz="1200" i="1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A Predictive Validity Comparison Between Domestic and International Students</a:t>
            </a:r>
            <a:endParaRPr sz="622" dirty="0"/>
          </a:p>
        </p:txBody>
      </p:sp>
      <p:sp>
        <p:nvSpPr>
          <p:cNvPr id="171" name="Google Shape;171;p2"/>
          <p:cNvSpPr txBox="1">
            <a:spLocks noGrp="1"/>
          </p:cNvSpPr>
          <p:nvPr>
            <p:ph type="ctrTitle"/>
          </p:nvPr>
        </p:nvSpPr>
        <p:spPr>
          <a:xfrm>
            <a:off x="9191836" y="630414"/>
            <a:ext cx="14534732" cy="4943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lvl="0">
              <a:lnSpc>
                <a:spcPct val="150000"/>
              </a:lnSpc>
              <a:buClr>
                <a:schemeClr val="lt1"/>
              </a:buClr>
              <a:buSzPts val="13900"/>
            </a:pPr>
            <a:r>
              <a:rPr lang="en-US" sz="6000" dirty="0" err="1">
                <a:solidFill>
                  <a:schemeClr val="lt1"/>
                </a:solidFill>
                <a:latin typeface="Lato Black"/>
                <a:ea typeface="Lato Black"/>
                <a:cs typeface="Lato Black"/>
                <a:sym typeface="Lato Black"/>
              </a:rPr>
              <a:t>WaferDetect</a:t>
            </a:r>
            <a:r>
              <a:rPr lang="en-US" sz="6000" dirty="0">
                <a:solidFill>
                  <a:schemeClr val="lt1"/>
                </a:solidFill>
                <a:latin typeface="Lato Black"/>
                <a:ea typeface="Lato Black"/>
                <a:cs typeface="Lato Black"/>
                <a:sym typeface="Lato Black"/>
              </a:rPr>
              <a:t>: Segmenting Complex Defect Patterns in Silicon Wafers with YOLO for Root-Cause Diagnosis</a:t>
            </a:r>
            <a:endParaRPr sz="6000" dirty="0"/>
          </a:p>
        </p:txBody>
      </p:sp>
      <p:sp>
        <p:nvSpPr>
          <p:cNvPr id="172" name="Google Shape;172;p2"/>
          <p:cNvSpPr/>
          <p:nvPr/>
        </p:nvSpPr>
        <p:spPr>
          <a:xfrm>
            <a:off x="1" y="0"/>
            <a:ext cx="8409214" cy="21945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0950" tIns="30467" rIns="60950" bIns="30467" anchor="ctr" anchorCtr="0">
            <a:noAutofit/>
          </a:bodyPr>
          <a:lstStyle/>
          <a:p>
            <a:r>
              <a:rPr lang="en-US" sz="1200" b="1" i="1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Non-Cognitive Predictors of Student Success:</a:t>
            </a:r>
            <a:br>
              <a:rPr lang="en-US" sz="1200" i="1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lang="en-US" sz="1200" i="1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A Predictive Validity Comparison Between Domestic and International Students</a:t>
            </a:r>
            <a:endParaRPr sz="622" dirty="0"/>
          </a:p>
        </p:txBody>
      </p:sp>
      <p:sp>
        <p:nvSpPr>
          <p:cNvPr id="173" name="Google Shape;173;p2"/>
          <p:cNvSpPr txBox="1"/>
          <p:nvPr/>
        </p:nvSpPr>
        <p:spPr>
          <a:xfrm>
            <a:off x="548530" y="637373"/>
            <a:ext cx="7312155" cy="16275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67" rIns="60950" bIns="30467" anchor="t" anchorCtr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600" b="1" dirty="0">
                <a:solidFill>
                  <a:schemeClr val="dk1"/>
                </a:solidFill>
                <a:latin typeface="Lato Black"/>
                <a:ea typeface="Lato Black"/>
                <a:cs typeface="Lato Black"/>
                <a:sym typeface="Lato Black"/>
              </a:rPr>
              <a:t>INTRODUCTION</a:t>
            </a:r>
          </a:p>
          <a:p>
            <a:pPr>
              <a:lnSpc>
                <a:spcPct val="120000"/>
              </a:lnSpc>
            </a:pPr>
            <a:endParaRPr sz="1000" dirty="0"/>
          </a:p>
          <a:p>
            <a:pPr lvl="0">
              <a:lnSpc>
                <a:spcPct val="120000"/>
              </a:lnSpc>
              <a:buClr>
                <a:schemeClr val="dk1"/>
              </a:buClr>
              <a:buSzPts val="3600"/>
            </a:pP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Chips power everyday tech from phones and cars to AI tools, making semiconductor supply a major news issue. Semiconductor fabrication labs (fabs) build chips on silicon wafers through hundreds of steps. Every die (chip) on a wafer is electrically tested, and defective dies form a pattern linked to a root cause: scratches indicate handling damage, rings indicate polishing drift, slip lines indicate thermal stress, etc. With single wafers worth up to $25k, misreading errors or failing to correct them is expensive. Yet prior works assign each wafer a single label with no location, no overlapping defects, and no way to measure cost.</a:t>
            </a:r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>
              <a:lnSpc>
                <a:spcPct val="120000"/>
              </a:lnSpc>
              <a:buClr>
                <a:schemeClr val="dk1"/>
              </a:buClr>
              <a:buSzPts val="3600"/>
            </a:pPr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>
              <a:lnSpc>
                <a:spcPct val="120000"/>
              </a:lnSpc>
              <a:buClr>
                <a:schemeClr val="dk1"/>
              </a:buClr>
              <a:buSzPts val="3600"/>
            </a:pPr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>
              <a:lnSpc>
                <a:spcPct val="120000"/>
              </a:lnSpc>
              <a:buClr>
                <a:schemeClr val="dk1"/>
              </a:buClr>
              <a:buSzPts val="3600"/>
            </a:pPr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>
              <a:lnSpc>
                <a:spcPct val="120000"/>
              </a:lnSpc>
            </a:pPr>
            <a:endParaRPr lang="en-US" sz="2600" b="1" dirty="0">
              <a:solidFill>
                <a:schemeClr val="dk1"/>
              </a:solidFill>
              <a:latin typeface="Lato Black"/>
              <a:ea typeface="Lato Black"/>
              <a:cs typeface="Lato Black"/>
              <a:sym typeface="Lato Black"/>
            </a:endParaRPr>
          </a:p>
          <a:p>
            <a:pPr>
              <a:lnSpc>
                <a:spcPct val="120000"/>
              </a:lnSpc>
            </a:pPr>
            <a:endParaRPr lang="en-US" sz="2600" b="1" dirty="0">
              <a:solidFill>
                <a:schemeClr val="dk1"/>
              </a:solidFill>
              <a:latin typeface="Lato Black"/>
              <a:ea typeface="Lato Black"/>
              <a:cs typeface="Lato Black"/>
              <a:sym typeface="Lato Black"/>
            </a:endParaRPr>
          </a:p>
          <a:p>
            <a:pPr>
              <a:lnSpc>
                <a:spcPct val="120000"/>
              </a:lnSpc>
            </a:pPr>
            <a:endParaRPr lang="en-US" sz="2600" b="1" dirty="0">
              <a:solidFill>
                <a:schemeClr val="dk1"/>
              </a:solidFill>
              <a:latin typeface="Lato Black"/>
              <a:ea typeface="Lato Black"/>
              <a:cs typeface="Lato Black"/>
              <a:sym typeface="Lato Black"/>
            </a:endParaRPr>
          </a:p>
          <a:p>
            <a:pPr>
              <a:lnSpc>
                <a:spcPct val="120000"/>
              </a:lnSpc>
            </a:pPr>
            <a:r>
              <a:rPr lang="en-US" sz="2600" b="1" dirty="0">
                <a:solidFill>
                  <a:schemeClr val="dk1"/>
                </a:solidFill>
                <a:latin typeface="Lato Black"/>
                <a:ea typeface="Lato Black"/>
                <a:cs typeface="Lato Black"/>
                <a:sym typeface="Lato Black"/>
              </a:rPr>
              <a:t>METHODOLOGY</a:t>
            </a:r>
          </a:p>
          <a:p>
            <a:pPr>
              <a:lnSpc>
                <a:spcPct val="120000"/>
              </a:lnSpc>
            </a:pPr>
            <a:endParaRPr lang="en-US" sz="1000" dirty="0">
              <a:solidFill>
                <a:schemeClr val="dk1"/>
              </a:solidFill>
            </a:endParaRPr>
          </a:p>
          <a:p>
            <a:pPr marL="495350" indent="-495350">
              <a:lnSpc>
                <a:spcPct val="120000"/>
              </a:lnSpc>
              <a:buAutoNum type="arabicPeriod"/>
            </a:pPr>
            <a:r>
              <a:rPr lang="en-US" sz="2600" b="1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Dataset: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580 annotated silicon wafer maps, spanning 21 defect pattern classes.</a:t>
            </a:r>
          </a:p>
          <a:p>
            <a:pPr marL="495350" indent="-495350">
              <a:lnSpc>
                <a:spcPct val="120000"/>
              </a:lnSpc>
              <a:buAutoNum type="arabicPeriod"/>
            </a:pPr>
            <a:r>
              <a:rPr lang="en-US" sz="2600" b="1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Model Architecture: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YOLO26x segmentation model, a single-pass detector with a convolutional backbone that extracts features at multiple scales as input to parallel heads that predict each defect's class, box, and pixel mask together, outlining every defect.</a:t>
            </a:r>
          </a:p>
          <a:p>
            <a:pPr marL="495350" indent="-495350">
              <a:lnSpc>
                <a:spcPct val="120000"/>
              </a:lnSpc>
              <a:buAutoNum type="arabicPeriod"/>
            </a:pPr>
            <a:r>
              <a:rPr lang="en-US" sz="2600" b="1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Analysis: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Each detection queries a root-cause knowledge base for the manufacturing error, recommended action, and the yield model used to quantify failed dies and dollars lost.</a:t>
            </a:r>
          </a:p>
        </p:txBody>
      </p:sp>
      <p:sp>
        <p:nvSpPr>
          <p:cNvPr id="174" name="Google Shape;174;p2"/>
          <p:cNvSpPr txBox="1"/>
          <p:nvPr/>
        </p:nvSpPr>
        <p:spPr>
          <a:xfrm>
            <a:off x="25383066" y="637373"/>
            <a:ext cx="7313083" cy="21279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67" rIns="60950" bIns="30467" anchor="t" anchorCtr="0">
            <a:spAutoFit/>
          </a:bodyPr>
          <a:lstStyle/>
          <a:p>
            <a:pPr lvl="0">
              <a:lnSpc>
                <a:spcPct val="120000"/>
              </a:lnSpc>
            </a:pPr>
            <a:r>
              <a:rPr lang="en-US" sz="2600" b="1" dirty="0">
                <a:solidFill>
                  <a:schemeClr val="dk1"/>
                </a:solidFill>
                <a:latin typeface="Lato Black"/>
                <a:ea typeface="Lato Black"/>
                <a:cs typeface="Lato Black"/>
                <a:sym typeface="Lato Black"/>
              </a:rPr>
              <a:t>RESULTS</a:t>
            </a:r>
          </a:p>
          <a:p>
            <a:pPr lvl="0">
              <a:lnSpc>
                <a:spcPct val="120000"/>
              </a:lnSpc>
            </a:pPr>
            <a:endParaRPr lang="en-US" sz="1000" dirty="0"/>
          </a:p>
          <a:p>
            <a:pPr marL="381038" indent="-381038">
              <a:lnSpc>
                <a:spcPct val="120000"/>
              </a:lnSpc>
              <a:buClr>
                <a:schemeClr val="dk1"/>
              </a:buClr>
              <a:buSzPts val="3600"/>
              <a:buFont typeface="Arial"/>
              <a:buChar char="•"/>
            </a:pP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For each silicon wafer map image, run the YOLO model and compute the Box and Mask Mean Average Precision (</a:t>
            </a:r>
            <a:r>
              <a:rPr lang="en-US" sz="2600" dirty="0" err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mAP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).</a:t>
            </a:r>
          </a:p>
          <a:p>
            <a:pPr marL="381038" lvl="3" indent="-381038">
              <a:lnSpc>
                <a:spcPct val="120000"/>
              </a:lnSpc>
              <a:buClr>
                <a:schemeClr val="dk1"/>
              </a:buClr>
              <a:buSzPts val="3600"/>
              <a:buFont typeface="Arial"/>
              <a:buChar char="•"/>
            </a:pPr>
            <a:r>
              <a:rPr lang="en-US" sz="2600" dirty="0"/>
              <a:t>The test set consists of 87 wafers, containing all 21 classes.</a:t>
            </a:r>
          </a:p>
          <a:p>
            <a:pPr lvl="0">
              <a:lnSpc>
                <a:spcPct val="120000"/>
              </a:lnSpc>
            </a:pPr>
            <a:endParaRPr lang="en-US" sz="26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>
              <a:lnSpc>
                <a:spcPct val="120000"/>
              </a:lnSpc>
            </a:pPr>
            <a:endParaRPr lang="en-US" sz="26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>
              <a:lnSpc>
                <a:spcPct val="120000"/>
              </a:lnSpc>
            </a:pPr>
            <a:endParaRPr lang="en-US" sz="26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>
              <a:lnSpc>
                <a:spcPct val="120000"/>
              </a:lnSpc>
            </a:pPr>
            <a:endParaRPr lang="en-US" sz="26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>
              <a:lnSpc>
                <a:spcPct val="120000"/>
              </a:lnSpc>
            </a:pPr>
            <a:endParaRPr lang="en-US" sz="26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>
              <a:lnSpc>
                <a:spcPct val="120000"/>
              </a:lnSpc>
            </a:pPr>
            <a:endParaRPr lang="en-US" sz="26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>
              <a:lnSpc>
                <a:spcPct val="120000"/>
              </a:lnSpc>
            </a:pPr>
            <a:endParaRPr lang="en-US" sz="26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>
              <a:lnSpc>
                <a:spcPct val="120000"/>
              </a:lnSpc>
            </a:pPr>
            <a:endParaRPr lang="en-US" sz="26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endParaRPr lang="en-US" sz="26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r>
              <a:rPr lang="en-US" sz="2600" b="1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DISCUSSION &amp; FUTURE WORKS</a:t>
            </a:r>
          </a:p>
          <a:p>
            <a:endParaRPr sz="10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/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In a real fab line, automating the detection and cost analysis process can save fabs millions of dollars. Because the model is single-pass and runs in milliseconds, it can sit directly on a live, real-time wafer-test data stream, segmenting each wafer map as it comes off the prober, flagging errors across lots and alerting engineers to defects before they damage more wafers.</a:t>
            </a:r>
          </a:p>
          <a:p>
            <a:pPr lvl="0"/>
            <a:endParaRPr lang="en-US" sz="26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lvl="0"/>
            <a:r>
              <a:rPr lang="en-US" sz="2600" b="1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REFERENCES</a:t>
            </a:r>
          </a:p>
          <a:p>
            <a:pPr lvl="0"/>
            <a:endParaRPr lang="en-US" sz="1000" b="1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514350" lvl="0" indent="-514350">
              <a:buAutoNum type="arabicPeriod"/>
            </a:pP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Bao, Y.-Y., Li, E.-C., Yang, H.-Q., &amp; Jia, B.-B. (2024). Wafer map defect classification using autoencoder-based data augmentation and convolutional neural network. </a:t>
            </a:r>
            <a:r>
              <a:rPr lang="en-US" sz="2600" dirty="0" err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arXiv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. 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  <a:hlinkClick r:id="rId3"/>
              </a:rPr>
              <a:t>https://doi.org/10.48550/arXiv.2411.11029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</a:t>
            </a:r>
          </a:p>
          <a:p>
            <a:pPr marL="514350" lvl="0" indent="-514350">
              <a:buAutoNum type="arabicPeriod"/>
            </a:pPr>
            <a:r>
              <a:rPr lang="en-US" sz="2600" dirty="0" err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Jocher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, G., Qiu, J., Liu, M., Lyu, S., </a:t>
            </a:r>
            <a:r>
              <a:rPr lang="en-US" sz="2600" dirty="0" err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Akyon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, F. C., &amp; </a:t>
            </a:r>
            <a:r>
              <a:rPr lang="en-US" sz="2600" dirty="0" err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Kalfaoglu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, M. E. (2026). </a:t>
            </a:r>
            <a:r>
              <a:rPr lang="en-US" sz="2600" dirty="0" err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Ultralytics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YOLO26: Unified real-time end-to-end vision models. </a:t>
            </a:r>
            <a:r>
              <a:rPr lang="en-US" sz="2600" dirty="0" err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arXiv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. 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https://doi.org/10.48550/arXiv.2606.03748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</a:t>
            </a:r>
          </a:p>
          <a:p>
            <a:pPr marL="514350" lvl="0" indent="-514350">
              <a:buAutoNum type="arabicPeriod"/>
            </a:pP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Wu, M.-J., Jang, J.-S. R., &amp; Chen, J.-L. (2015). Wafer map failure pattern recognition and similarity ranking for large-scale data sets. IEEE Transactions on Semiconductor Manufacturing, 28(1), 1–12. 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  <a:hlinkClick r:id="rId5"/>
              </a:rPr>
              <a:t>https://doi.org/10.1109/TSM.2014.2364237</a:t>
            </a:r>
            <a:r>
              <a:rPr lang="en-US" sz="26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sz="2600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E32CA4-5713-59CF-7F06-AB737027A7FB}"/>
              </a:ext>
            </a:extLst>
          </p:cNvPr>
          <p:cNvSpPr/>
          <p:nvPr/>
        </p:nvSpPr>
        <p:spPr>
          <a:xfrm>
            <a:off x="9191836" y="17563800"/>
            <a:ext cx="7761541" cy="274099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622"/>
          </a:p>
        </p:txBody>
      </p:sp>
      <p:sp>
        <p:nvSpPr>
          <p:cNvPr id="16" name="Google Shape;171;p2">
            <a:extLst>
              <a:ext uri="{FF2B5EF4-FFF2-40B4-BE49-F238E27FC236}">
                <a16:creationId xmlns:a16="http://schemas.microsoft.com/office/drawing/2014/main" id="{3BE1692E-14E0-1AD3-CE74-91C4A853D78D}"/>
              </a:ext>
            </a:extLst>
          </p:cNvPr>
          <p:cNvSpPr txBox="1">
            <a:spLocks/>
          </p:cNvSpPr>
          <p:nvPr/>
        </p:nvSpPr>
        <p:spPr>
          <a:xfrm>
            <a:off x="9231536" y="4820278"/>
            <a:ext cx="14495031" cy="910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800"/>
              <a:buFont typeface="Calibri"/>
              <a:buNone/>
              <a:defRPr sz="28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50000"/>
              </a:lnSpc>
              <a:buClr>
                <a:schemeClr val="lt1"/>
              </a:buClr>
              <a:buSzPts val="13900"/>
            </a:pPr>
            <a:r>
              <a:rPr lang="en-US" sz="3600" dirty="0">
                <a:solidFill>
                  <a:schemeClr val="lt1"/>
                </a:solidFill>
                <a:latin typeface="Lato Black"/>
                <a:ea typeface="Lato Black"/>
                <a:cs typeface="Lato Black"/>
                <a:sym typeface="Lato Black"/>
              </a:rPr>
              <a:t>Rishab Alagharu</a:t>
            </a:r>
            <a:endParaRPr lang="en-US" sz="3600" dirty="0"/>
          </a:p>
        </p:txBody>
      </p:sp>
      <p:pic>
        <p:nvPicPr>
          <p:cNvPr id="18" name="Picture 17" descr="Governor's Honors Program | Gordon County Schools">
            <a:extLst>
              <a:ext uri="{FF2B5EF4-FFF2-40B4-BE49-F238E27FC236}">
                <a16:creationId xmlns:a16="http://schemas.microsoft.com/office/drawing/2014/main" id="{A6963206-23C6-2FAC-0FBB-EA86CD00B6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2747" y="17720117"/>
            <a:ext cx="2308322" cy="2308322"/>
          </a:xfrm>
          <a:prstGeom prst="rect">
            <a:avLst/>
          </a:prstGeom>
        </p:spPr>
      </p:pic>
      <p:pic>
        <p:nvPicPr>
          <p:cNvPr id="19" name="Picture 18" descr="Georgia Southern University - Georgia ONmyLINE">
            <a:extLst>
              <a:ext uri="{FF2B5EF4-FFF2-40B4-BE49-F238E27FC236}">
                <a16:creationId xmlns:a16="http://schemas.microsoft.com/office/drawing/2014/main" id="{5675082A-AAD5-F954-3414-6878513551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41980" y="18249421"/>
            <a:ext cx="4313992" cy="1240273"/>
          </a:xfrm>
          <a:prstGeom prst="rect">
            <a:avLst/>
          </a:prstGeom>
        </p:spPr>
      </p:pic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2EDFF420-50AE-6E13-1F92-60A760FF66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7456564"/>
              </p:ext>
            </p:extLst>
          </p:nvPr>
        </p:nvGraphicFramePr>
        <p:xfrm>
          <a:off x="25383065" y="3994105"/>
          <a:ext cx="7313084" cy="28681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6121">
                  <a:extLst>
                    <a:ext uri="{9D8B030D-6E8A-4147-A177-3AD203B41FA5}">
                      <a16:colId xmlns:a16="http://schemas.microsoft.com/office/drawing/2014/main" val="1554723242"/>
                    </a:ext>
                  </a:extLst>
                </a:gridCol>
                <a:gridCol w="2217740">
                  <a:extLst>
                    <a:ext uri="{9D8B030D-6E8A-4147-A177-3AD203B41FA5}">
                      <a16:colId xmlns:a16="http://schemas.microsoft.com/office/drawing/2014/main" val="1643672328"/>
                    </a:ext>
                  </a:extLst>
                </a:gridCol>
                <a:gridCol w="2029223">
                  <a:extLst>
                    <a:ext uri="{9D8B030D-6E8A-4147-A177-3AD203B41FA5}">
                      <a16:colId xmlns:a16="http://schemas.microsoft.com/office/drawing/2014/main" val="814646162"/>
                    </a:ext>
                  </a:extLst>
                </a:gridCol>
              </a:tblGrid>
              <a:tr h="717027">
                <a:tc>
                  <a:txBody>
                    <a:bodyPr/>
                    <a:lstStyle/>
                    <a:p>
                      <a:pPr algn="ctr"/>
                      <a:endParaRPr lang="en-US" sz="2100" dirty="0"/>
                    </a:p>
                  </a:txBody>
                  <a:tcPr marL="60960" marR="60960" marT="30480" marB="30480" anchor="ctr">
                    <a:solidFill>
                      <a:srgbClr val="9A83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Box mAP</a:t>
                      </a:r>
                    </a:p>
                  </a:txBody>
                  <a:tcPr marL="60960" marR="60960" marT="30480" marB="30480" anchor="ctr">
                    <a:solidFill>
                      <a:srgbClr val="9A83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Mask mAP</a:t>
                      </a:r>
                    </a:p>
                  </a:txBody>
                  <a:tcPr marL="60960" marR="60960" marT="30480" marB="30480" anchor="ctr">
                    <a:solidFill>
                      <a:srgbClr val="9A83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6395802"/>
                  </a:ext>
                </a:extLst>
              </a:tr>
              <a:tr h="717027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Full Test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0.909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0.852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482256120"/>
                  </a:ext>
                </a:extLst>
              </a:tr>
              <a:tr h="717027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Combo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0.782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0.686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739475522"/>
                  </a:ext>
                </a:extLst>
              </a:tr>
              <a:tr h="717027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Edge Scratch Tiny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0.995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0.995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785903160"/>
                  </a:ext>
                </a:extLst>
              </a:tr>
            </a:tbl>
          </a:graphicData>
        </a:graphic>
      </p:graphicFrame>
      <p:sp>
        <p:nvSpPr>
          <p:cNvPr id="6" name="Google Shape;176;p2">
            <a:extLst>
              <a:ext uri="{FF2B5EF4-FFF2-40B4-BE49-F238E27FC236}">
                <a16:creationId xmlns:a16="http://schemas.microsoft.com/office/drawing/2014/main" id="{DD98570F-C4C2-F57B-6EAB-5192AF9A5D4A}"/>
              </a:ext>
            </a:extLst>
          </p:cNvPr>
          <p:cNvSpPr txBox="1"/>
          <p:nvPr/>
        </p:nvSpPr>
        <p:spPr>
          <a:xfrm>
            <a:off x="19461411" y="15927489"/>
            <a:ext cx="4265155" cy="461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67" rIns="60950" bIns="30467" anchor="t" anchorCtr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  <a:latin typeface="Lato Black"/>
                <a:ea typeface="Lato Black"/>
                <a:cs typeface="Lato Black"/>
                <a:sym typeface="Lato Black"/>
              </a:rPr>
              <a:t>Scan to View Source Code</a:t>
            </a:r>
            <a:endParaRPr sz="2600" dirty="0">
              <a:solidFill>
                <a:schemeClr val="bg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830ABD0-9B98-025A-CCF9-0511771D842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93883" y="6109419"/>
            <a:ext cx="14534731" cy="9122657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022FABE6-F24C-1F4D-C98E-3D50CA0F6E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8450" y="7662915"/>
            <a:ext cx="7312155" cy="2504802"/>
          </a:xfrm>
          <a:prstGeom prst="rect">
            <a:avLst/>
          </a:prstGeom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EC8A1329-0CC4-4200-748D-8CC372AF2E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8451" y="16989253"/>
            <a:ext cx="7312155" cy="4601783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B9CB7D21-E2A0-E32D-8043-7DE5EF25478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507635" y="7349383"/>
            <a:ext cx="2385455" cy="238545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A027CC7-F63F-62B8-4F98-E0DD2EADC1D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846879" y="7349383"/>
            <a:ext cx="2385455" cy="238545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8DA56D0-D23F-E2D9-769F-318D03E8325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221974" y="7379829"/>
            <a:ext cx="2355008" cy="2355008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B53FEAA-1515-CC00-88CA-CF7187AE587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61411" y="16579139"/>
            <a:ext cx="4265156" cy="426515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14043D7-57DB-0211-993F-317469A3C9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515602" y="15843855"/>
            <a:ext cx="1090545" cy="1090545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573B8F9-0A49-A195-9C89-41EB3E62F6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0772434" y="15786703"/>
            <a:ext cx="932839" cy="1127761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0F7525F2-94E3-5981-BD7F-AF57C44188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4379594" y="15836050"/>
            <a:ext cx="1176804" cy="109835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CB810942-4386-1B13-910F-9086BDB8E6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3135219" y="15853670"/>
            <a:ext cx="1080730" cy="1080730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D20414FD-125C-4465-56A8-8D5CC96760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1871560" y="15843855"/>
            <a:ext cx="1098351" cy="1098351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310BEB21-0FE5-C324-0BA2-9D2E47882E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 flipH="1">
            <a:off x="15720043" y="15843855"/>
            <a:ext cx="1098351" cy="10840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957</TotalTime>
  <Words>556</Words>
  <Application>Microsoft Macintosh PowerPoint</Application>
  <PresentationFormat>Custom</PresentationFormat>
  <Paragraphs>59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Lato</vt:lpstr>
      <vt:lpstr>Lato Black</vt:lpstr>
      <vt:lpstr>Calibri</vt:lpstr>
      <vt:lpstr>Office Theme</vt:lpstr>
      <vt:lpstr>WaferDetect: Segmenting Complex Defect Patterns in Silicon Wafers with YOLO for Root-Cause Diagnosis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Mike Morrison</dc:creator>
  <cp:lastModifiedBy>Rishab Alagharu</cp:lastModifiedBy>
  <cp:revision>58</cp:revision>
  <dcterms:created xsi:type="dcterms:W3CDTF">2018-09-16T19:13:41Z</dcterms:created>
  <dcterms:modified xsi:type="dcterms:W3CDTF">2026-07-06T16:32:10Z</dcterms:modified>
</cp:coreProperties>
</file>