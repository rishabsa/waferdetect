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2918400" cy="21945600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Lato Black" panose="020F0502020204030203" pitchFamily="34" charset="0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0384" userDrawn="1">
          <p15:clr>
            <a:srgbClr val="A4A3A4"/>
          </p15:clr>
        </p15:guide>
        <p15:guide id="2" pos="4016" userDrawn="1">
          <p15:clr>
            <a:srgbClr val="A4A3A4"/>
          </p15:clr>
        </p15:guide>
        <p15:guide id="3" pos="176" userDrawn="1">
          <p15:clr>
            <a:srgbClr val="A4A3A4"/>
          </p15:clr>
        </p15:guide>
        <p15:guide id="4" pos="496" userDrawn="1">
          <p15:clr>
            <a:srgbClr val="A4A3A4"/>
          </p15:clr>
        </p15:guide>
        <p15:guide id="5" orient="horz" pos="6912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gGwtAEGhsZnifSjkFUgMWI3/I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8347"/>
    <a:srgbClr val="2F2F2F"/>
    <a:srgbClr val="003876"/>
    <a:srgbClr val="003675"/>
    <a:srgbClr val="272B7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/>
    <p:restoredTop sz="94687"/>
  </p:normalViewPr>
  <p:slideViewPr>
    <p:cSldViewPr snapToGrid="0">
      <p:cViewPr>
        <p:scale>
          <a:sx n="14" d="100"/>
          <a:sy n="14" d="100"/>
        </p:scale>
        <p:origin x="-4664" y="-7608"/>
      </p:cViewPr>
      <p:guideLst>
        <p:guide pos="10384"/>
        <p:guide pos="4016"/>
        <p:guide pos="176"/>
        <p:guide pos="496"/>
        <p:guide orient="horz"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40" Type="http://customschemas.google.com/relationships/presentationmetadata" Target="meta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2468880" y="3591561"/>
            <a:ext cx="27980640" cy="76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2245997" y="5471167"/>
            <a:ext cx="28392120" cy="912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152416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>
                <a:solidFill>
                  <a:schemeClr val="dk1"/>
                </a:solidFill>
              </a:defRPr>
            </a:lvl1pPr>
            <a:lvl2pPr marL="609660" lvl="1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6400">
                <a:solidFill>
                  <a:srgbClr val="888888"/>
                </a:solidFill>
              </a:defRPr>
            </a:lvl2pPr>
            <a:lvl3pPr marL="914492" lvl="2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5760">
                <a:solidFill>
                  <a:srgbClr val="888888"/>
                </a:solidFill>
              </a:defRPr>
            </a:lvl3pPr>
            <a:lvl4pPr marL="1219322" lvl="3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4pPr>
            <a:lvl5pPr marL="1524152" lvl="4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5pPr>
            <a:lvl6pPr marL="1828983" lvl="5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6pPr>
            <a:lvl7pPr marL="2133814" lvl="6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7pPr>
            <a:lvl8pPr marL="2438644" lvl="7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8pPr>
            <a:lvl9pPr marL="2743475" lvl="8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2263140" y="5842001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228623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60" lvl="1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92" lvl="2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322" lvl="3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152" lvl="4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983" lvl="5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814" lvl="6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644" lvl="7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475" lvl="8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2"/>
          </p:nvPr>
        </p:nvSpPr>
        <p:spPr>
          <a:xfrm>
            <a:off x="16664940" y="5842001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228623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60" lvl="1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92" lvl="2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322" lvl="3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152" lvl="4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983" lvl="5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814" lvl="6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644" lvl="7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475" lvl="8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2267427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31" lvl="0" indent="-152416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60" lvl="1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92" lvl="2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322" lvl="3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152" lvl="4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983" lvl="5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814" lvl="6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644" lvl="7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475" lvl="8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2267431" y="8016241"/>
            <a:ext cx="13926024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228623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60" lvl="1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92" lvl="2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322" lvl="3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152" lvl="4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983" lvl="5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814" lvl="6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644" lvl="7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475" lvl="8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16664943" y="5379722"/>
            <a:ext cx="13994607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31" lvl="0" indent="-152416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60" lvl="1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92" lvl="2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322" lvl="3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152" lvl="4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983" lvl="5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814" lvl="6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644" lvl="7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475" lvl="8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16664943" y="8016241"/>
            <a:ext cx="13994607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228623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60" lvl="1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92" lvl="2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322" lvl="3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152" lvl="4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983" lvl="5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814" lvl="6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644" lvl="7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475" lvl="8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13994607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80272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0242"/>
            </a:lvl1pPr>
            <a:lvl2pPr marL="609660" lvl="1" indent="-72143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8960"/>
            </a:lvl2pPr>
            <a:lvl3pPr marL="914492" lvl="2" indent="-64014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7680"/>
            </a:lvl3pPr>
            <a:lvl4pPr marL="1219322" lvl="3" indent="-558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4pPr>
            <a:lvl5pPr marL="1524152" lvl="4" indent="-558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5pPr>
            <a:lvl6pPr marL="1828983" lvl="5" indent="-558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6pPr>
            <a:lvl7pPr marL="2133814" lvl="6" indent="-558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7pPr>
            <a:lvl8pPr marL="2438644" lvl="7" indent="-558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8pPr>
            <a:lvl9pPr marL="2743475" lvl="8" indent="-558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2"/>
          </p:nvPr>
        </p:nvSpPr>
        <p:spPr>
          <a:xfrm>
            <a:off x="2267428" y="6583681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152416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60" lvl="1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92" lvl="2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322" lvl="3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152" lvl="4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983" lvl="5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814" lvl="6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644" lvl="7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475" lvl="8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pic" idx="2"/>
          </p:nvPr>
        </p:nvSpPr>
        <p:spPr>
          <a:xfrm>
            <a:off x="13994607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2267428" y="6583681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152416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60" lvl="1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92" lvl="2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322" lvl="3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152" lvl="4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983" lvl="5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814" lvl="6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644" lvl="7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475" lvl="8" indent="-15241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 rot="5400000">
            <a:off x="9497061" y="-1391919"/>
            <a:ext cx="13924281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228623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60" lvl="1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92" lvl="2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322" lvl="3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152" lvl="4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983" lvl="5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814" lvl="6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644" lvl="7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475" lvl="8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 rot="5400000">
            <a:off x="17807308" y="6918326"/>
            <a:ext cx="18597881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3405508" y="26036"/>
            <a:ext cx="18597881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31" lvl="0" indent="-228623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60" lvl="1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92" lvl="2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322" lvl="3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152" lvl="4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983" lvl="5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814" lvl="6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644" lvl="7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475" lvl="8" indent="-2286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sz="211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2263140" y="5842001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8204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sz="13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6012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13" Type="http://schemas.openxmlformats.org/officeDocument/2006/relationships/image" Target="../media/image8.png"/><Relationship Id="rId3" Type="http://schemas.openxmlformats.org/officeDocument/2006/relationships/hyperlink" Target="https://doi.org/10.48550/arXiv.2411.11029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11" Type="http://schemas.openxmlformats.org/officeDocument/2006/relationships/image" Target="../media/image6.png"/><Relationship Id="rId5" Type="http://schemas.openxmlformats.org/officeDocument/2006/relationships/hyperlink" Target="https://doi.org/10.1109/TSM.2014.2364237" TargetMode="External"/><Relationship Id="rId10" Type="http://schemas.openxmlformats.org/officeDocument/2006/relationships/image" Target="../media/image5.svg"/><Relationship Id="rId4" Type="http://schemas.openxmlformats.org/officeDocument/2006/relationships/hyperlink" Target="https://doi.org/10.48550/arXiv.2606.03748" TargetMode="External"/><Relationship Id="rId9" Type="http://schemas.openxmlformats.org/officeDocument/2006/relationships/image" Target="../media/image4.sv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876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/>
          <p:nvPr/>
        </p:nvSpPr>
        <p:spPr>
          <a:xfrm>
            <a:off x="24835001" y="0"/>
            <a:ext cx="8409214" cy="219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r>
              <a:rPr lang="en-US" sz="1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Non-Cognitive Predictors of Student Success:</a:t>
            </a:r>
            <a:br>
              <a:rPr lang="en-US" sz="1200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Predictive Validity Comparison Between Domestic and International Students</a:t>
            </a:r>
            <a:endParaRPr sz="622" dirty="0"/>
          </a:p>
        </p:txBody>
      </p:sp>
      <p:sp>
        <p:nvSpPr>
          <p:cNvPr id="171" name="Google Shape;171;p2"/>
          <p:cNvSpPr txBox="1">
            <a:spLocks noGrp="1"/>
          </p:cNvSpPr>
          <p:nvPr>
            <p:ph type="ctrTitle"/>
          </p:nvPr>
        </p:nvSpPr>
        <p:spPr>
          <a:xfrm>
            <a:off x="9191836" y="630414"/>
            <a:ext cx="14534732" cy="494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lvl="0">
              <a:lnSpc>
                <a:spcPct val="150000"/>
              </a:lnSpc>
              <a:buClr>
                <a:schemeClr val="lt1"/>
              </a:buClr>
              <a:buSzPts val="13900"/>
            </a:pPr>
            <a:r>
              <a:rPr lang="en-US" sz="6000" b="1" dirty="0" err="1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WaferDetect</a:t>
            </a:r>
            <a:r>
              <a:rPr lang="en-US" sz="6000" dirty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: Segmenting Complex Defect Patterns in Silicon Wafers with YOLO for Root-Cause Diagnosis</a:t>
            </a:r>
            <a:endParaRPr sz="6000" dirty="0"/>
          </a:p>
        </p:txBody>
      </p:sp>
      <p:sp>
        <p:nvSpPr>
          <p:cNvPr id="172" name="Google Shape;172;p2"/>
          <p:cNvSpPr/>
          <p:nvPr/>
        </p:nvSpPr>
        <p:spPr>
          <a:xfrm>
            <a:off x="1" y="0"/>
            <a:ext cx="8409214" cy="219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r>
              <a:rPr lang="en-US" sz="1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Non-Cognitive Predictors of Student Success:</a:t>
            </a:r>
            <a:br>
              <a:rPr lang="en-US" sz="1200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Predictive Validity Comparison Between Domestic and International Students</a:t>
            </a:r>
            <a:endParaRPr sz="622" dirty="0"/>
          </a:p>
        </p:txBody>
      </p:sp>
      <p:sp>
        <p:nvSpPr>
          <p:cNvPr id="173" name="Google Shape;173;p2"/>
          <p:cNvSpPr txBox="1"/>
          <p:nvPr/>
        </p:nvSpPr>
        <p:spPr>
          <a:xfrm>
            <a:off x="548530" y="637373"/>
            <a:ext cx="7312155" cy="1657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INTRODUCTION</a:t>
            </a:r>
          </a:p>
          <a:p>
            <a:pPr>
              <a:lnSpc>
                <a:spcPct val="120000"/>
              </a:lnSpc>
            </a:pPr>
            <a:endParaRPr sz="1000" dirty="0"/>
          </a:p>
          <a:p>
            <a:pPr lvl="0">
              <a:lnSpc>
                <a:spcPct val="120000"/>
              </a:lnSpc>
              <a:buClr>
                <a:schemeClr val="dk1"/>
              </a:buClr>
              <a:buSzPts val="3600"/>
            </a:pP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Semiconductor fabrication labs (fabs) build chips on silicon wafers through hundreds of steps. Every die (chip) on a wafer is electrically tested, and defective dies form a pattern linked to a root cause: scratches indicate handling damage, rings indicate polishing drift, slip lines indicate thermal stress, etc. With single wafers worth up to $25k, misreading errors or failing to correct them is expensive. Yet prior works assign each wafer a single label with no location, no overlapping defects, and no way to measure cost.</a:t>
            </a:r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  <a:buClr>
                <a:schemeClr val="dk1"/>
              </a:buClr>
              <a:buSzPts val="3600"/>
            </a:pPr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  <a:buClr>
                <a:schemeClr val="dk1"/>
              </a:buClr>
              <a:buSzPts val="3600"/>
            </a:pPr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  <a:buClr>
                <a:schemeClr val="dk1"/>
              </a:buClr>
              <a:buSzPts val="3600"/>
            </a:pPr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20000"/>
              </a:lnSpc>
            </a:pPr>
            <a:endParaRPr lang="en-US" sz="2600" b="1" dirty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>
              <a:lnSpc>
                <a:spcPct val="120000"/>
              </a:lnSpc>
            </a:pPr>
            <a:endParaRPr lang="en-US" sz="2600" b="1" dirty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>
              <a:lnSpc>
                <a:spcPct val="120000"/>
              </a:lnSpc>
            </a:pPr>
            <a:endParaRPr lang="en-US" sz="2600" b="1" dirty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METHODOLOGY</a:t>
            </a:r>
          </a:p>
          <a:p>
            <a:pPr>
              <a:lnSpc>
                <a:spcPct val="120000"/>
              </a:lnSpc>
            </a:pPr>
            <a:endParaRPr lang="en-US" sz="1000" dirty="0">
              <a:solidFill>
                <a:schemeClr val="dk1"/>
              </a:solidFill>
            </a:endParaRPr>
          </a:p>
          <a:p>
            <a:pPr marL="495350" indent="-495350">
              <a:lnSpc>
                <a:spcPct val="120000"/>
              </a:lnSpc>
              <a:buAutoNum type="arabicPeriod"/>
            </a:pPr>
            <a:r>
              <a:rPr lang="en-US" sz="26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580 annotated silicon wafer maps, spanning 21 defect pattern classes.</a:t>
            </a:r>
          </a:p>
          <a:p>
            <a:pPr marL="495350" indent="-495350">
              <a:lnSpc>
                <a:spcPct val="120000"/>
              </a:lnSpc>
              <a:buAutoNum type="arabicPeriod"/>
            </a:pPr>
            <a:r>
              <a:rPr lang="en-US" sz="26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Model Architecture: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YOLO26x segmentation model, a single-pass detector with a convolutional backbone that extracts features at multiple scales as input to parallel heads that predict each defect's class, confidence, box, and pixel mask together, outlining every defect.</a:t>
            </a:r>
          </a:p>
          <a:p>
            <a:pPr marL="495350" indent="-495350">
              <a:lnSpc>
                <a:spcPct val="120000"/>
              </a:lnSpc>
              <a:buAutoNum type="arabicPeriod"/>
            </a:pPr>
            <a:r>
              <a:rPr lang="en-US" sz="26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Analysis: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Each detection queries a root-cause knowledge base for the related manufacturing error, recommended action to take, and the yield model used to quantify failed dies and dollars lost.</a:t>
            </a:r>
          </a:p>
        </p:txBody>
      </p:sp>
      <p:sp>
        <p:nvSpPr>
          <p:cNvPr id="174" name="Google Shape;174;p2"/>
          <p:cNvSpPr txBox="1"/>
          <p:nvPr/>
        </p:nvSpPr>
        <p:spPr>
          <a:xfrm>
            <a:off x="25383066" y="637373"/>
            <a:ext cx="7313083" cy="2127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600" b="1" dirty="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RESULTS</a:t>
            </a:r>
          </a:p>
          <a:p>
            <a:pPr lvl="0">
              <a:lnSpc>
                <a:spcPct val="120000"/>
              </a:lnSpc>
            </a:pPr>
            <a:endParaRPr lang="en-US" sz="1000" dirty="0"/>
          </a:p>
          <a:p>
            <a:pPr marL="381038" indent="-381038">
              <a:lnSpc>
                <a:spcPct val="120000"/>
              </a:lnSpc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each silicon wafer map image, run the YOLO model and compute the Box and Mask Mean Average Precision (</a:t>
            </a:r>
            <a:r>
              <a:rPr lang="en-US" sz="2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mAP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  <a:p>
            <a:pPr marL="381038" lvl="3" indent="-381038">
              <a:lnSpc>
                <a:spcPct val="120000"/>
              </a:lnSpc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2600" dirty="0"/>
              <a:t>The test set consists of 87 wafers, containing all 21 classes.</a:t>
            </a:r>
          </a:p>
          <a:p>
            <a:pPr lvl="0">
              <a:lnSpc>
                <a:spcPct val="120000"/>
              </a:lnSpc>
            </a:pPr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</a:pPr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</a:pPr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</a:pPr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</a:pPr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</a:pPr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</a:pPr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20000"/>
              </a:lnSpc>
            </a:pPr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sz="26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r>
              <a:rPr lang="en-US" sz="26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DISCUSSION &amp; FUTURE WORKS</a:t>
            </a:r>
          </a:p>
          <a:p>
            <a:endParaRPr sz="10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/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a real fab line, automating the detection and cost analysis process can save fabs millions of dollars. Because the model is single-pass and runs in milliseconds, it can sit directly on a live, real-time wafer-test data stream, segmenting each wafer map as it comes off the prober, flagging errors across lots and alerting engineers to defects before they damage more wafers.</a:t>
            </a:r>
          </a:p>
          <a:p>
            <a:pPr lvl="0"/>
            <a:endParaRPr lang="en-US" sz="2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/>
            <a:r>
              <a:rPr lang="en-US" sz="26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REFERENCES</a:t>
            </a:r>
          </a:p>
          <a:p>
            <a:pPr lvl="0"/>
            <a:endParaRPr lang="en-US" sz="10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514350" lvl="0" indent="-514350">
              <a:buAutoNum type="arabicPeriod"/>
            </a:pP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Bao, Y.-Y., Li, E.-C., Yang, H.-Q., &amp; Jia, B.-B. (2024). Wafer map defect classification using autoencoder-based data augmentation and convolutional neural network. </a:t>
            </a:r>
            <a:r>
              <a:rPr lang="en-US" sz="2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arXiv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https://doi.org/10.48550/arXiv.2411.11029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514350" lvl="0" indent="-514350">
              <a:buAutoNum type="arabicPeriod"/>
            </a:pPr>
            <a:r>
              <a:rPr lang="en-US" sz="2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Jocher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G., Qiu, J., Liu, M., Lyu, S., </a:t>
            </a:r>
            <a:r>
              <a:rPr lang="en-US" sz="2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Akyon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F. C., &amp; </a:t>
            </a:r>
            <a:r>
              <a:rPr lang="en-US" sz="2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Kalfaoglu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M. E. (2026). </a:t>
            </a:r>
            <a:r>
              <a:rPr lang="en-US" sz="2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Ultralytics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YOLO26: Unified real-time end-to-end vision models. </a:t>
            </a:r>
            <a:r>
              <a:rPr lang="en-US" sz="2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arXiv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https://doi.org/10.48550/arXiv.2606.03748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514350" lvl="0" indent="-514350">
              <a:buAutoNum type="arabicPeriod"/>
            </a:pP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Wu, M.-J., Jang, J.-S. R., &amp; Chen, J.-L. (2015). Wafer map failure pattern recognition and similarity ranking for large-scale data sets. IEEE Transactions on Semiconductor Manufacturing, 28(1), 1–12. 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https://doi.org/10.1109/TSM.2014.2364237</a:t>
            </a:r>
            <a:r>
              <a:rPr lang="en-US" sz="2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6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E32CA4-5713-59CF-7F06-AB737027A7FB}"/>
              </a:ext>
            </a:extLst>
          </p:cNvPr>
          <p:cNvSpPr/>
          <p:nvPr/>
        </p:nvSpPr>
        <p:spPr>
          <a:xfrm>
            <a:off x="9191837" y="17208037"/>
            <a:ext cx="7761541" cy="27409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22"/>
          </a:p>
        </p:txBody>
      </p:sp>
      <p:sp>
        <p:nvSpPr>
          <p:cNvPr id="16" name="Google Shape;171;p2">
            <a:extLst>
              <a:ext uri="{FF2B5EF4-FFF2-40B4-BE49-F238E27FC236}">
                <a16:creationId xmlns:a16="http://schemas.microsoft.com/office/drawing/2014/main" id="{3BE1692E-14E0-1AD3-CE74-91C4A853D78D}"/>
              </a:ext>
            </a:extLst>
          </p:cNvPr>
          <p:cNvSpPr txBox="1">
            <a:spLocks/>
          </p:cNvSpPr>
          <p:nvPr/>
        </p:nvSpPr>
        <p:spPr>
          <a:xfrm>
            <a:off x="9231536" y="4820278"/>
            <a:ext cx="14495031" cy="91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lt1"/>
              </a:buClr>
              <a:buSzPts val="13900"/>
            </a:pPr>
            <a:r>
              <a:rPr lang="en-US" sz="3600" dirty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Rishab Alagharu</a:t>
            </a:r>
            <a:endParaRPr lang="en-US" sz="3600" dirty="0"/>
          </a:p>
        </p:txBody>
      </p:sp>
      <p:pic>
        <p:nvPicPr>
          <p:cNvPr id="18" name="Picture 17" descr="Governor's Honors Program | Gordon County Schools">
            <a:extLst>
              <a:ext uri="{FF2B5EF4-FFF2-40B4-BE49-F238E27FC236}">
                <a16:creationId xmlns:a16="http://schemas.microsoft.com/office/drawing/2014/main" id="{A6963206-23C6-2FAC-0FBB-EA86CD00B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2748" y="17364354"/>
            <a:ext cx="2308322" cy="2308322"/>
          </a:xfrm>
          <a:prstGeom prst="rect">
            <a:avLst/>
          </a:prstGeom>
        </p:spPr>
      </p:pic>
      <p:pic>
        <p:nvPicPr>
          <p:cNvPr id="19" name="Picture 18" descr="Georgia Southern University - Georgia ONmyLINE">
            <a:extLst>
              <a:ext uri="{FF2B5EF4-FFF2-40B4-BE49-F238E27FC236}">
                <a16:creationId xmlns:a16="http://schemas.microsoft.com/office/drawing/2014/main" id="{5675082A-AAD5-F954-3414-6878513551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1981" y="17893658"/>
            <a:ext cx="4313992" cy="1240273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EDFF420-50AE-6E13-1F92-60A760FF6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456564"/>
              </p:ext>
            </p:extLst>
          </p:nvPr>
        </p:nvGraphicFramePr>
        <p:xfrm>
          <a:off x="25383065" y="3994105"/>
          <a:ext cx="7313084" cy="2868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6121">
                  <a:extLst>
                    <a:ext uri="{9D8B030D-6E8A-4147-A177-3AD203B41FA5}">
                      <a16:colId xmlns:a16="http://schemas.microsoft.com/office/drawing/2014/main" val="1554723242"/>
                    </a:ext>
                  </a:extLst>
                </a:gridCol>
                <a:gridCol w="2217740">
                  <a:extLst>
                    <a:ext uri="{9D8B030D-6E8A-4147-A177-3AD203B41FA5}">
                      <a16:colId xmlns:a16="http://schemas.microsoft.com/office/drawing/2014/main" val="1643672328"/>
                    </a:ext>
                  </a:extLst>
                </a:gridCol>
                <a:gridCol w="2029223">
                  <a:extLst>
                    <a:ext uri="{9D8B030D-6E8A-4147-A177-3AD203B41FA5}">
                      <a16:colId xmlns:a16="http://schemas.microsoft.com/office/drawing/2014/main" val="814646162"/>
                    </a:ext>
                  </a:extLst>
                </a:gridCol>
              </a:tblGrid>
              <a:tr h="717027">
                <a:tc>
                  <a:txBody>
                    <a:bodyPr/>
                    <a:lstStyle/>
                    <a:p>
                      <a:pPr algn="ctr"/>
                      <a:endParaRPr lang="en-US" sz="2100" dirty="0"/>
                    </a:p>
                  </a:txBody>
                  <a:tcPr marL="60960" marR="60960" marT="30480" marB="30480" anchor="ctr">
                    <a:solidFill>
                      <a:srgbClr val="9A83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Box mAP</a:t>
                      </a:r>
                    </a:p>
                  </a:txBody>
                  <a:tcPr marL="60960" marR="60960" marT="30480" marB="30480" anchor="ctr">
                    <a:solidFill>
                      <a:srgbClr val="9A83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Mask mAP</a:t>
                      </a:r>
                    </a:p>
                  </a:txBody>
                  <a:tcPr marL="60960" marR="60960" marT="30480" marB="30480" anchor="ctr">
                    <a:solidFill>
                      <a:srgbClr val="9A83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395802"/>
                  </a:ext>
                </a:extLst>
              </a:tr>
              <a:tr h="71702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Full Test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0.909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0.852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482256120"/>
                  </a:ext>
                </a:extLst>
              </a:tr>
              <a:tr h="71702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Combo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0.782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0.686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39475522"/>
                  </a:ext>
                </a:extLst>
              </a:tr>
              <a:tr h="71702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Edge Scratch Tiny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0.995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0.995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85903160"/>
                  </a:ext>
                </a:extLst>
              </a:tr>
            </a:tbl>
          </a:graphicData>
        </a:graphic>
      </p:graphicFrame>
      <p:sp>
        <p:nvSpPr>
          <p:cNvPr id="6" name="Google Shape;176;p2">
            <a:extLst>
              <a:ext uri="{FF2B5EF4-FFF2-40B4-BE49-F238E27FC236}">
                <a16:creationId xmlns:a16="http://schemas.microsoft.com/office/drawing/2014/main" id="{DD98570F-C4C2-F57B-6EAB-5192AF9A5D4A}"/>
              </a:ext>
            </a:extLst>
          </p:cNvPr>
          <p:cNvSpPr txBox="1"/>
          <p:nvPr/>
        </p:nvSpPr>
        <p:spPr>
          <a:xfrm>
            <a:off x="19461411" y="15927489"/>
            <a:ext cx="4265155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Scan to View Source Code</a:t>
            </a:r>
            <a:endParaRPr sz="26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30ABD0-9B98-025A-CCF9-0511771D84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3883" y="6109419"/>
            <a:ext cx="14534731" cy="912265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022FABE6-F24C-1F4D-C98E-3D50CA0F6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451" y="6711939"/>
            <a:ext cx="7312155" cy="250480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C8A1329-0CC4-4200-748D-8CC372AF2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451" y="16989253"/>
            <a:ext cx="7312155" cy="460178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9CB7D21-E2A0-E32D-8043-7DE5EF2547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07635" y="7349383"/>
            <a:ext cx="2385455" cy="238545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A027CC7-F63F-62B8-4F98-E0DD2EADC1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46879" y="7349383"/>
            <a:ext cx="2385455" cy="238545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DA56D0-D23F-E2D9-769F-318D03E832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21974" y="7379829"/>
            <a:ext cx="2355008" cy="235500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B53FEAA-1515-CC00-88CA-CF7187AE587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61411" y="16579139"/>
            <a:ext cx="4265156" cy="42651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541</Words>
  <Application>Microsoft Macintosh PowerPoint</Application>
  <PresentationFormat>Custom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Lato</vt:lpstr>
      <vt:lpstr>Lato Black</vt:lpstr>
      <vt:lpstr>Calibri</vt:lpstr>
      <vt:lpstr>Office Theme</vt:lpstr>
      <vt:lpstr>WaferDetect: Segmenting Complex Defect Patterns in Silicon Wafers with YOLO for Root-Cause Diagnosis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Mike Morrison</dc:creator>
  <cp:lastModifiedBy>Rishab Alagharu</cp:lastModifiedBy>
  <cp:revision>52</cp:revision>
  <dcterms:created xsi:type="dcterms:W3CDTF">2018-09-16T19:13:41Z</dcterms:created>
  <dcterms:modified xsi:type="dcterms:W3CDTF">2026-07-06T15:54:53Z</dcterms:modified>
</cp:coreProperties>
</file>